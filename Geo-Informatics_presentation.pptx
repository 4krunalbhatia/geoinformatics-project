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6" r:id="rId17"/>
    <p:sldId id="271" r:id="rId18"/>
    <p:sldId id="272" r:id="rId19"/>
    <p:sldId id="273" r:id="rId20"/>
    <p:sldId id="274" r:id="rId21"/>
    <p:sldId id="275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runal Bhatia" initials="KB" lastIdx="1" clrIdx="0">
    <p:extLst>
      <p:ext uri="{19B8F6BF-5375-455C-9EA6-DF929625EA0E}">
        <p15:presenceInfo xmlns:p15="http://schemas.microsoft.com/office/powerpoint/2012/main" userId="898ff7485854375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7" d="100"/>
          <a:sy n="77" d="100"/>
        </p:scale>
        <p:origin x="1618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3-15T16:51:46.994" idx="1">
    <p:pos x="10" y="10"/>
    <p:text/>
    <p:extLst>
      <p:ext uri="{C676402C-5697-4E1C-873F-D02D1690AC5C}">
        <p15:threadingInfo xmlns:p15="http://schemas.microsoft.com/office/powerpoint/2012/main" timeZoneBias="-6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4077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017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41806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0172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8380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2640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218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4404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8880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6058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3807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0909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43061"/>
            <a:ext cx="7772400" cy="3157390"/>
          </a:xfrm>
        </p:spPr>
        <p:txBody>
          <a:bodyPr>
            <a:normAutofit/>
          </a:bodyPr>
          <a:lstStyle/>
          <a:p>
            <a:r>
              <a:rPr sz="6000" dirty="0"/>
              <a:t>Land Use and Vegetation Change Detection in Bengaluru (2018–2024)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59177" y="4046455"/>
            <a:ext cx="6400800" cy="1752600"/>
          </a:xfrm>
        </p:spPr>
        <p:txBody>
          <a:bodyPr>
            <a:normAutofit fontScale="70000" lnSpcReduction="20000"/>
          </a:bodyPr>
          <a:lstStyle/>
          <a:p>
            <a:r>
              <a:rPr dirty="0"/>
              <a:t>Using Sentinel‑2 </a:t>
            </a:r>
            <a:r>
              <a:rPr lang="en-IN" dirty="0"/>
              <a:t>remote sensing data</a:t>
            </a:r>
            <a:endParaRPr dirty="0"/>
          </a:p>
          <a:p>
            <a:endParaRPr dirty="0"/>
          </a:p>
          <a:p>
            <a:r>
              <a:rPr dirty="0"/>
              <a:t>Name: </a:t>
            </a:r>
            <a:r>
              <a:rPr lang="en-IN" dirty="0"/>
              <a:t>Krunal Bhatia </a:t>
            </a:r>
            <a:endParaRPr dirty="0"/>
          </a:p>
          <a:p>
            <a:r>
              <a:rPr dirty="0"/>
              <a:t>Course: Geo‑Informatics WS25‑26</a:t>
            </a:r>
          </a:p>
          <a:p>
            <a:r>
              <a:rPr lang="en-IN" dirty="0"/>
              <a:t>Matriculation number</a:t>
            </a:r>
            <a:r>
              <a:rPr dirty="0"/>
              <a:t>: </a:t>
            </a:r>
            <a:r>
              <a:rPr lang="en-IN" dirty="0"/>
              <a:t>37553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Bengaluru is one of the fastest growing metropolitan areas in India, making it an ideal case study for analyzing vegetation change caused by urban expansion.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dirty="0"/>
              <a:t>Rapid urban growth influences vegetation and land cover.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dirty="0"/>
              <a:t>Remote sensing enables monitoring of environmental changes.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dirty="0"/>
              <a:t>NDVI provides a reliable indicator of vegetation health.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dirty="0"/>
              <a:t>This study examines vegetation changes in Bengaluru</a:t>
            </a:r>
            <a:r>
              <a:rPr lang="en-IN" dirty="0"/>
              <a:t>,India</a:t>
            </a:r>
            <a:r>
              <a:rPr dirty="0"/>
              <a:t> between 2018 and 2024.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1. Calculate NDVI for Sentinel-2 imagery from 2018 and 2024.</a:t>
            </a:r>
          </a:p>
          <a:p>
            <a:r>
              <a:rPr lang="en-IN" dirty="0"/>
              <a:t>2. Classify vegetation density using NDVI thresholds.</a:t>
            </a:r>
          </a:p>
          <a:p>
            <a:r>
              <a:rPr lang="en-IN" dirty="0"/>
              <a:t>3. Detect vegetation change between the two years.</a:t>
            </a:r>
          </a:p>
          <a:p>
            <a:r>
              <a:rPr lang="en-IN" dirty="0"/>
              <a:t>4. Evaluate classification accuracy using validation points.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3872A4C-943E-8013-DBB7-EE4C69C5DF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995" y="0"/>
            <a:ext cx="8816009" cy="623430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dirty="0"/>
              <a:t>Sentinel‑2 satellite imagery (10m spatial resolution)</a:t>
            </a:r>
            <a:endParaRPr lang="en-IN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Sentinel-2 Bands Used:</a:t>
            </a:r>
          </a:p>
          <a:p>
            <a:r>
              <a:rPr lang="en-US" dirty="0"/>
              <a:t>Band 4 (Red)</a:t>
            </a:r>
          </a:p>
          <a:p>
            <a:r>
              <a:rPr lang="en-US" dirty="0"/>
              <a:t>Band 8 (Near Infrared)</a:t>
            </a:r>
          </a:p>
          <a:p>
            <a:endParaRPr dirty="0"/>
          </a:p>
          <a:p>
            <a:pPr>
              <a:buFont typeface="Wingdings" panose="05000000000000000000" pitchFamily="2" charset="2"/>
              <a:buChar char="§"/>
            </a:pPr>
            <a:r>
              <a:rPr dirty="0"/>
              <a:t>Images from 2018 and 2024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dirty="0"/>
              <a:t>Bengaluru administrative boundary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dirty="0"/>
              <a:t>Data obtained from </a:t>
            </a:r>
            <a:r>
              <a:rPr b="1" dirty="0"/>
              <a:t>Copernicus Data Space Ecosystem</a:t>
            </a:r>
            <a:endParaRPr lang="en-IN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Sentinel‑2 Image Dates (Justification)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2018 Image Date: </a:t>
            </a:r>
            <a:r>
              <a:rPr lang="en-IN" dirty="0"/>
              <a:t>25.12.2018</a:t>
            </a:r>
            <a:endParaRPr dirty="0"/>
          </a:p>
          <a:p>
            <a:r>
              <a:rPr dirty="0"/>
              <a:t>2024 Image Date: </a:t>
            </a:r>
            <a:r>
              <a:rPr lang="en-IN" dirty="0"/>
              <a:t>27.04.2024</a:t>
            </a:r>
          </a:p>
          <a:p>
            <a:endParaRPr lang="en-IN" dirty="0"/>
          </a:p>
          <a:p>
            <a:r>
              <a:rPr lang="en-IN" b="1" dirty="0"/>
              <a:t>Image Selection Criteria</a:t>
            </a:r>
            <a:endParaRPr lang="en-IN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Cloud cover below </a:t>
            </a:r>
            <a:r>
              <a:rPr lang="en-IN" b="1" dirty="0"/>
              <a:t>10%</a:t>
            </a:r>
            <a:endParaRPr lang="en-IN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Clear Sentinel-2 scenes covering Bengaluru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Suitable image quality for </a:t>
            </a:r>
            <a:r>
              <a:rPr lang="en-IN" b="1" dirty="0"/>
              <a:t>NDVI calculation</a:t>
            </a:r>
            <a:endParaRPr lang="en-IN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Enables reliable </a:t>
            </a:r>
            <a:r>
              <a:rPr lang="en-IN" b="1" dirty="0"/>
              <a:t>comparison between 2018 and 2024</a:t>
            </a:r>
            <a:endParaRPr lang="en-IN" dirty="0"/>
          </a:p>
          <a:p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NDVI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dirty="0"/>
              <a:t>NDVI = (NIR − Red) / (NIR + Red)</a:t>
            </a:r>
            <a:endParaRPr lang="en-IN" dirty="0"/>
          </a:p>
          <a:p>
            <a:pPr marL="0" indent="0">
              <a:buNone/>
            </a:pPr>
            <a:r>
              <a:rPr lang="en-US" i="1" dirty="0"/>
              <a:t>(NDVI values range from −1 to +1.)</a:t>
            </a:r>
            <a:endParaRPr i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Higher NDVI values indicate healthier vegetation.</a:t>
            </a:r>
            <a:endParaRPr dirty="0"/>
          </a:p>
          <a:p>
            <a:pPr>
              <a:buFont typeface="Arial" panose="020B0604020202020204" pitchFamily="34" charset="0"/>
              <a:buChar char="•"/>
            </a:pPr>
            <a:r>
              <a:rPr dirty="0"/>
              <a:t>Lower values represent bare soil, water or built‑up areas.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NDVI 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&lt; 0 : Water / Built‑up</a:t>
            </a:r>
          </a:p>
          <a:p>
            <a:r>
              <a:rPr dirty="0"/>
              <a:t>0 – 0.2 : Bare Soil</a:t>
            </a:r>
          </a:p>
          <a:p>
            <a:r>
              <a:rPr dirty="0"/>
              <a:t>0.2 – 0.4 : Sparse Vegetation</a:t>
            </a:r>
          </a:p>
          <a:p>
            <a:r>
              <a:rPr dirty="0"/>
              <a:t>0.4 – 0.6 : Moderate Vegetation</a:t>
            </a:r>
          </a:p>
          <a:p>
            <a:r>
              <a:rPr dirty="0"/>
              <a:t>&gt; 0.6 : Dense Vegetation</a:t>
            </a:r>
            <a:endParaRPr lang="en-IN" dirty="0"/>
          </a:p>
          <a:p>
            <a:endParaRPr lang="en-IN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These thresholds are commonly used in remote sensing studies to differentiate vegetation density levels.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Methodology</a:t>
            </a:r>
            <a:r>
              <a:rPr lang="en-IN" dirty="0"/>
              <a:t> Workflow</a:t>
            </a:r>
            <a:endParaRPr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1A11A30-035B-66AB-F06A-4D5DC5F44F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IN" dirty="0"/>
              <a:t>Satellite Data Acquisition: Sentinel‑2 imagery (2018 and 2024)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Pre‑processing: Image clipping to Bengaluru boundary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NDVI Calculation: (NIR − Red) / (NIR + Red)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NDVI Classification into vegetation categories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NDVI Change Detection (2018–2024)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Accuracy Assessment using 100 random validation points</a:t>
            </a:r>
          </a:p>
          <a:p>
            <a:pPr marL="0" indent="0">
              <a:buNone/>
            </a:pPr>
            <a:endParaRPr lang="en-I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Software and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dirty="0"/>
              <a:t>QGIS 3.</a:t>
            </a:r>
            <a:r>
              <a:rPr lang="en-IN" dirty="0"/>
              <a:t>44.8</a:t>
            </a:r>
            <a:endParaRPr dirty="0"/>
          </a:p>
          <a:p>
            <a:pPr>
              <a:buFont typeface="Arial" panose="020B0604020202020204" pitchFamily="34" charset="0"/>
              <a:buChar char="•"/>
            </a:pPr>
            <a:r>
              <a:rPr dirty="0"/>
              <a:t>Raster Calculator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dirty="0"/>
              <a:t>Processing Toolbox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Group Stats plugin used for confusion matrix generation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NDVI Map – 2018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768F56-EF96-84C7-AFA1-5F87C0A986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0747" y="1860517"/>
            <a:ext cx="6122505" cy="432957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NDVI Map – 2024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842FC3-C124-3F12-4BEF-C70F3715DD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4160" y="1892707"/>
            <a:ext cx="6221399" cy="439950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NDVI Change Detection Map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8E3E04-59D9-7EDA-D162-E426FEADF2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4862" y="1818862"/>
            <a:ext cx="6399154" cy="452520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Vegetation Statistics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E83B3E-6FC7-E16E-C2B9-2D92CECD97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859" y="1907349"/>
            <a:ext cx="4484001" cy="351762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EA13547-215E-CF1F-76F6-4E3EEE775A47}"/>
              </a:ext>
            </a:extLst>
          </p:cNvPr>
          <p:cNvSpPr txBox="1"/>
          <p:nvPr/>
        </p:nvSpPr>
        <p:spPr>
          <a:xfrm>
            <a:off x="244729" y="5664532"/>
            <a:ext cx="87002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area of vegetation loss (743 km²) is significantly larger than vegetation gain (219 km²), indicating a net decline in vegetation cover between 2018 and 2024.</a:t>
            </a:r>
            <a:endParaRPr lang="en-IN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Accuracy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Validation method: 100 random sample points generated across Bengaluru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Reference data obtained through visual interpretation of Sentinel‑2 imagery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Confusion matrix used to compare classified and reference values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Overall accuracy calculated from correct classifications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Overall accuracy ≈ 85%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Accuracy assessment evaluates how reliable the classification results are.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0EE7DCC-9E51-552E-1FC2-EA282B5722E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3315772"/>
              </p:ext>
            </p:extLst>
          </p:nvPr>
        </p:nvGraphicFramePr>
        <p:xfrm>
          <a:off x="382334" y="1976847"/>
          <a:ext cx="8379332" cy="37529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1727">
                  <a:extLst>
                    <a:ext uri="{9D8B030D-6E8A-4147-A177-3AD203B41FA5}">
                      <a16:colId xmlns:a16="http://schemas.microsoft.com/office/drawing/2014/main" val="967355731"/>
                    </a:ext>
                  </a:extLst>
                </a:gridCol>
                <a:gridCol w="1168571">
                  <a:extLst>
                    <a:ext uri="{9D8B030D-6E8A-4147-A177-3AD203B41FA5}">
                      <a16:colId xmlns:a16="http://schemas.microsoft.com/office/drawing/2014/main" val="936679920"/>
                    </a:ext>
                  </a:extLst>
                </a:gridCol>
                <a:gridCol w="1310149">
                  <a:extLst>
                    <a:ext uri="{9D8B030D-6E8A-4147-A177-3AD203B41FA5}">
                      <a16:colId xmlns:a16="http://schemas.microsoft.com/office/drawing/2014/main" val="1991727376"/>
                    </a:ext>
                  </a:extLst>
                </a:gridCol>
                <a:gridCol w="1310149">
                  <a:extLst>
                    <a:ext uri="{9D8B030D-6E8A-4147-A177-3AD203B41FA5}">
                      <a16:colId xmlns:a16="http://schemas.microsoft.com/office/drawing/2014/main" val="1453237844"/>
                    </a:ext>
                  </a:extLst>
                </a:gridCol>
                <a:gridCol w="1314583">
                  <a:extLst>
                    <a:ext uri="{9D8B030D-6E8A-4147-A177-3AD203B41FA5}">
                      <a16:colId xmlns:a16="http://schemas.microsoft.com/office/drawing/2014/main" val="3583678572"/>
                    </a:ext>
                  </a:extLst>
                </a:gridCol>
                <a:gridCol w="1824153">
                  <a:extLst>
                    <a:ext uri="{9D8B030D-6E8A-4147-A177-3AD203B41FA5}">
                      <a16:colId xmlns:a16="http://schemas.microsoft.com/office/drawing/2014/main" val="2596210532"/>
                    </a:ext>
                  </a:extLst>
                </a:gridCol>
              </a:tblGrid>
              <a:tr h="75511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Reference \ Classified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Bare soil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Sparse Vegetation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Moderate Vegetation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Dense Vegetation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Water/Built-up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1693487"/>
                  </a:ext>
                </a:extLst>
              </a:tr>
              <a:tr h="437488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Bare Soil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251687"/>
                  </a:ext>
                </a:extLst>
              </a:tr>
              <a:tr h="43748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Sparse Vegetation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6965598"/>
                  </a:ext>
                </a:extLst>
              </a:tr>
              <a:tr h="437488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Moderate Vegetation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3941877"/>
                  </a:ext>
                </a:extLst>
              </a:tr>
              <a:tr h="43748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Dense Vegetation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8921560"/>
                  </a:ext>
                </a:extLst>
              </a:tr>
              <a:tr h="437488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Water/Built-up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799418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CEBCFC2-B8C2-5E33-0BD0-E61C5F0E3F0D}"/>
              </a:ext>
            </a:extLst>
          </p:cNvPr>
          <p:cNvSpPr txBox="1"/>
          <p:nvPr/>
        </p:nvSpPr>
        <p:spPr>
          <a:xfrm>
            <a:off x="1530626" y="924339"/>
            <a:ext cx="68480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latin typeface="Calibri Light (Headings)"/>
              </a:rPr>
              <a:t>Confusion Matrix Table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0D211C-B1A1-368F-6163-4A2A0C601BD6}"/>
              </a:ext>
            </a:extLst>
          </p:cNvPr>
          <p:cNvSpPr txBox="1"/>
          <p:nvPr/>
        </p:nvSpPr>
        <p:spPr>
          <a:xfrm>
            <a:off x="2792896" y="5864087"/>
            <a:ext cx="3558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Overall Accuracy = 85/100 = 85 %</a:t>
            </a:r>
          </a:p>
        </p:txBody>
      </p:sp>
    </p:spTree>
    <p:extLst>
      <p:ext uri="{BB962C8B-B14F-4D97-AF65-F5344CB8AC3E}">
        <p14:creationId xmlns:p14="http://schemas.microsoft.com/office/powerpoint/2010/main" val="26648012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NDVI analysis reveals a </a:t>
            </a:r>
            <a:r>
              <a:rPr lang="en-US" b="1" dirty="0"/>
              <a:t>clear spatial contrast</a:t>
            </a:r>
            <a:r>
              <a:rPr lang="en-US" dirty="0"/>
              <a:t> between the urban center and the peripheral areas of Bengaluru. Central regions exhibit lower NDVI values, indicating dense built-up infrastructure and limited vegetation cover.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Peripheral zones show </a:t>
            </a:r>
            <a:r>
              <a:rPr lang="en-US" b="1" dirty="0"/>
              <a:t>higher NDVI values</a:t>
            </a:r>
            <a:r>
              <a:rPr lang="en-US" dirty="0"/>
              <a:t>, reflecting the presence of agricultural land, open spaces, and remaining green areas.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The change detection results indicate that vegetation loss (743 km²) is significantly higher than vegetation gain (219 km²) between 2018 and 2024.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This suggests a </a:t>
            </a:r>
            <a:r>
              <a:rPr lang="en-US" b="1" dirty="0"/>
              <a:t>net decline in vegetation cover</a:t>
            </a:r>
            <a:r>
              <a:rPr lang="en-US" dirty="0"/>
              <a:t>, likely associated with ongoing urban expansion and infrastructure development in Bengaluru.</a:t>
            </a:r>
          </a:p>
          <a:p>
            <a:pPr>
              <a:buFont typeface="Wingdings" panose="05000000000000000000" pitchFamily="2" charset="2"/>
              <a:buChar char="v"/>
            </a:pPr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NDVI does not always distinguish built-up areas from bare soil.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dirty="0"/>
              <a:t>Limited temporal dataset (two years).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Vegetation change analysis conducted using NDVI from Sentinel‑2 imagery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Comparison between 2018 and 2024 shows areas of vegetation loss and gain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Urban expansion contributes to vegetation loss in several zones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Some regions show stable or increased vegetation due to parks and green zones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NDVI change detection is effective for monitoring urban environmental change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These results demonstrate how satellite remote sensing can support urban environmental monitoring and sustainable planning.</a:t>
            </a:r>
          </a:p>
          <a:p>
            <a:pPr>
              <a:buFont typeface="Wingdings" panose="05000000000000000000" pitchFamily="2" charset="2"/>
              <a:buChar char="§"/>
            </a:pPr>
            <a:endParaRPr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Copernicus Sentinel‑2 Data</a:t>
            </a:r>
          </a:p>
          <a:p>
            <a:r>
              <a:rPr dirty="0"/>
              <a:t>QGIS Documentation</a:t>
            </a:r>
          </a:p>
          <a:p>
            <a:r>
              <a:rPr dirty="0"/>
              <a:t>Remote Sensing NDVI Literature</a:t>
            </a:r>
            <a:endParaRPr lang="en-IN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195</TotalTime>
  <Words>765</Words>
  <Application>Microsoft Office PowerPoint</Application>
  <PresentationFormat>On-screen Show (4:3)</PresentationFormat>
  <Paragraphs>130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Calibri Light</vt:lpstr>
      <vt:lpstr>Calibri Light (Headings)</vt:lpstr>
      <vt:lpstr>Wingdings</vt:lpstr>
      <vt:lpstr>Retrospect</vt:lpstr>
      <vt:lpstr>Land Use and Vegetation Change Detection in Bengaluru (2018–2024)</vt:lpstr>
      <vt:lpstr>Introduction</vt:lpstr>
      <vt:lpstr>Research Objectives</vt:lpstr>
      <vt:lpstr>PowerPoint Presentation</vt:lpstr>
      <vt:lpstr>Data Sources</vt:lpstr>
      <vt:lpstr>Sentinel‑2 Image Dates (Justification)</vt:lpstr>
      <vt:lpstr>NDVI Concept</vt:lpstr>
      <vt:lpstr>NDVI Classification</vt:lpstr>
      <vt:lpstr>Methodology Workflow</vt:lpstr>
      <vt:lpstr>Software and Tools</vt:lpstr>
      <vt:lpstr>NDVI Map – 2018</vt:lpstr>
      <vt:lpstr>NDVI Map – 2024</vt:lpstr>
      <vt:lpstr>NDVI Change Detection Map</vt:lpstr>
      <vt:lpstr>Vegetation Statistics</vt:lpstr>
      <vt:lpstr>Accuracy Assessment</vt:lpstr>
      <vt:lpstr>PowerPoint Presentation</vt:lpstr>
      <vt:lpstr>Key Findings</vt:lpstr>
      <vt:lpstr>Limitations</vt:lpstr>
      <vt:lpstr>Conclusion</vt:lpstr>
      <vt:lpstr>References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Krunal Bhatia</dc:creator>
  <cp:keywords/>
  <dc:description>generated using python-pptx</dc:description>
  <cp:lastModifiedBy>Krunal Bhatia</cp:lastModifiedBy>
  <cp:revision>6</cp:revision>
  <dcterms:created xsi:type="dcterms:W3CDTF">2013-01-27T09:14:16Z</dcterms:created>
  <dcterms:modified xsi:type="dcterms:W3CDTF">2026-03-15T18:55:20Z</dcterms:modified>
  <cp:category/>
</cp:coreProperties>
</file>